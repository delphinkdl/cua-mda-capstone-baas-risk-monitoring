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9" roundtripDataSignature="AMtx7mhleX1upXc7ppS41i0PzEuD/q2GL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67"/>
    <p:restoredTop sz="96170"/>
  </p:normalViewPr>
  <p:slideViewPr>
    <p:cSldViewPr snapToGrid="0">
      <p:cViewPr varScale="1">
        <p:scale>
          <a:sx n="123" d="100"/>
          <a:sy n="123" d="100"/>
        </p:scale>
        <p:origin x="1112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48d70c595f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48d70c595f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48d70c595f_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g348d70c595f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b="1" dirty="0">
                <a:solidFill>
                  <a:schemeClr val="dk1"/>
                </a:solidFill>
                <a:latin typeface="+mj-lt"/>
                <a:ea typeface="Roboto"/>
                <a:cs typeface="Roboto"/>
                <a:sym typeface="Roboto"/>
              </a:rPr>
              <a:t>The </a:t>
            </a:r>
            <a:r>
              <a:rPr lang="en-US" sz="1400" b="1" dirty="0" err="1">
                <a:solidFill>
                  <a:schemeClr val="dk1"/>
                </a:solidFill>
                <a:latin typeface="+mj-lt"/>
                <a:ea typeface="Roboto"/>
                <a:cs typeface="Roboto"/>
                <a:sym typeface="Roboto"/>
              </a:rPr>
              <a:t>CRoss</a:t>
            </a:r>
            <a:r>
              <a:rPr lang="en-US" sz="1400" b="1" dirty="0">
                <a:solidFill>
                  <a:schemeClr val="dk1"/>
                </a:solidFill>
                <a:latin typeface="+mj-lt"/>
                <a:ea typeface="Roboto"/>
                <a:cs typeface="Roboto"/>
                <a:sym typeface="Roboto"/>
              </a:rPr>
              <a:t> Industry Standard Process for Data Mining (CRISP-DM) is a process model with six phases that describes the data science life cycle.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 b="1" dirty="0">
              <a:solidFill>
                <a:schemeClr val="dk1"/>
              </a:solidFill>
              <a:latin typeface="+mj-l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latin typeface="+mj-lt"/>
              </a:rPr>
              <a:t>	</a:t>
            </a:r>
            <a:r>
              <a:rPr lang="en-US" sz="1400" b="1" dirty="0">
                <a:latin typeface="+mj-lt"/>
              </a:rPr>
              <a:t>1. Business Understanding</a:t>
            </a:r>
            <a:endParaRPr sz="1400" b="1" dirty="0">
              <a:latin typeface="+mj-lt"/>
            </a:endParaRPr>
          </a:p>
          <a:p>
            <a:pPr marL="457200" lvl="0" indent="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dirty="0">
                <a:latin typeface="+mj-lt"/>
              </a:rPr>
              <a:t>Define the project's objectives from a business perspective and determine the success criteria. </a:t>
            </a:r>
          </a:p>
          <a:p>
            <a:pPr marL="457200" lvl="0" indent="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 dirty="0">
              <a:latin typeface="+mj-l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latin typeface="+mj-lt"/>
              </a:rPr>
              <a:t>	</a:t>
            </a:r>
            <a:r>
              <a:rPr lang="en-US" sz="1400" b="1" dirty="0">
                <a:latin typeface="+mj-lt"/>
              </a:rPr>
              <a:t>2. Data Understanding </a:t>
            </a:r>
            <a:endParaRPr sz="1400" b="1" dirty="0">
              <a:latin typeface="+mj-lt"/>
            </a:endParaRPr>
          </a:p>
          <a:p>
            <a:pPr marL="457200" lvl="0" indent="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dirty="0">
                <a:latin typeface="+mj-lt"/>
              </a:rPr>
              <a:t>Collect and explore the initial data, describe it, and verify its quality. </a:t>
            </a:r>
          </a:p>
          <a:p>
            <a:pPr marL="457200" lvl="0" indent="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 dirty="0">
              <a:latin typeface="+mj-l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latin typeface="+mj-lt"/>
              </a:rPr>
              <a:t>	</a:t>
            </a:r>
            <a:r>
              <a:rPr lang="en-US" sz="1400" b="1" dirty="0">
                <a:latin typeface="+mj-lt"/>
              </a:rPr>
              <a:t>3. Data Preparation</a:t>
            </a:r>
            <a:endParaRPr sz="1400" b="1" dirty="0">
              <a:latin typeface="+mj-lt"/>
            </a:endParaRPr>
          </a:p>
          <a:p>
            <a:pPr marL="457200" lvl="0" indent="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dirty="0">
                <a:latin typeface="+mj-lt"/>
              </a:rPr>
              <a:t>Select, clean, construct, integrate, and format the data to be suitable for modeling. </a:t>
            </a:r>
          </a:p>
          <a:p>
            <a:pPr marL="457200" lvl="0" indent="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 dirty="0">
              <a:latin typeface="+mj-l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latin typeface="+mj-lt"/>
              </a:rPr>
              <a:t>	</a:t>
            </a:r>
            <a:r>
              <a:rPr lang="en-US" sz="1400" b="1" dirty="0">
                <a:latin typeface="+mj-lt"/>
              </a:rPr>
              <a:t>4. Modeling Select </a:t>
            </a:r>
            <a:endParaRPr sz="1400" b="1" dirty="0">
              <a:latin typeface="+mj-lt"/>
            </a:endParaRPr>
          </a:p>
          <a:p>
            <a:pPr marL="457200" lvl="0" indent="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dirty="0">
                <a:latin typeface="+mj-lt"/>
              </a:rPr>
              <a:t>appropriate modeling techniques, generate a test design, and build the actual model(s). </a:t>
            </a:r>
          </a:p>
          <a:p>
            <a:pPr marL="457200" lvl="0" indent="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 dirty="0">
              <a:latin typeface="+mj-l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latin typeface="+mj-lt"/>
              </a:rPr>
              <a:t>	</a:t>
            </a:r>
            <a:r>
              <a:rPr lang="en-US" sz="1400" b="1" dirty="0">
                <a:latin typeface="+mj-lt"/>
              </a:rPr>
              <a:t>5. Evaluation</a:t>
            </a:r>
            <a:endParaRPr sz="1400" b="1" dirty="0">
              <a:latin typeface="+mj-lt"/>
            </a:endParaRPr>
          </a:p>
          <a:p>
            <a:pPr marL="457200" lvl="0" indent="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dirty="0">
                <a:latin typeface="+mj-lt"/>
              </a:rPr>
              <a:t>Evaluate the models against the business objectives, review the overall process, and decide on the next steps. </a:t>
            </a:r>
          </a:p>
          <a:p>
            <a:pPr marL="457200" lvl="0" indent="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 dirty="0">
              <a:latin typeface="+mj-l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latin typeface="+mj-lt"/>
              </a:rPr>
              <a:t>	</a:t>
            </a:r>
            <a:r>
              <a:rPr lang="en-US" sz="1400" b="1" dirty="0">
                <a:latin typeface="+mj-lt"/>
              </a:rPr>
              <a:t>6. Deployment </a:t>
            </a:r>
            <a:endParaRPr sz="1400" b="1" dirty="0">
              <a:latin typeface="+mj-lt"/>
            </a:endParaRPr>
          </a:p>
          <a:p>
            <a:pPr marL="457200" lvl="0" indent="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dirty="0">
                <a:latin typeface="+mj-lt"/>
              </a:rPr>
              <a:t>Plan the deployment of the model, set up monitoring and maintenance, and communicate the final report to stakeholders. </a:t>
            </a:r>
            <a:endParaRPr sz="1400" dirty="0">
              <a:latin typeface="+mj-l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48d9006294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g348d9006294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48d9006294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g348d9006294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48d9006294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g348d9006294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48d9006294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g348d9006294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" name="Google Shape;14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0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0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1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1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2" name="Google Shape;32;p12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3" name="Google Shape;33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3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3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0" name="Google Shape;40;p13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3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6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6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7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7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8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48d70c595f_1_0"/>
          <p:cNvSpPr txBox="1">
            <a:spLocks noGrp="1"/>
          </p:cNvSpPr>
          <p:nvPr>
            <p:ph type="ctrTitle"/>
          </p:nvPr>
        </p:nvSpPr>
        <p:spPr>
          <a:xfrm>
            <a:off x="685800" y="1551075"/>
            <a:ext cx="7772400" cy="1470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latin typeface="Arial"/>
                <a:ea typeface="Arial"/>
                <a:cs typeface="Arial"/>
                <a:sym typeface="Arial"/>
              </a:rPr>
              <a:t>Bank-as-a-Service(Baas) Risk Monitoring</a:t>
            </a:r>
            <a:endParaRPr b="1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g348d70c595f_1_0"/>
          <p:cNvSpPr txBox="1">
            <a:spLocks noGrp="1"/>
          </p:cNvSpPr>
          <p:nvPr>
            <p:ph type="subTitle" idx="1"/>
          </p:nvPr>
        </p:nvSpPr>
        <p:spPr>
          <a:xfrm>
            <a:off x="179375" y="3996475"/>
            <a:ext cx="8762100" cy="2626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Delphin</a:t>
            </a:r>
            <a:r>
              <a:rPr lang="en-US" sz="3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| </a:t>
            </a:r>
            <a:r>
              <a:rPr lang="en-US" sz="3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Solomon</a:t>
            </a:r>
            <a:r>
              <a:rPr lang="en-US" sz="3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| </a:t>
            </a:r>
            <a:r>
              <a:rPr lang="en-US" sz="3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Tycho</a:t>
            </a:r>
            <a:endParaRPr sz="30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Catholic University of America</a:t>
            </a:r>
            <a:endParaRPr sz="3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666"/>
              <a:buFont typeface="Arial"/>
              <a:buNone/>
            </a:pPr>
            <a:r>
              <a:rPr lang="en-US" sz="3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Capstone Project</a:t>
            </a:r>
            <a:endParaRPr sz="3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36666"/>
              <a:buFont typeface="Arial"/>
              <a:buNone/>
            </a:pPr>
            <a:r>
              <a:rPr lang="en-US" sz="3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Fall 2025</a:t>
            </a:r>
            <a:endParaRPr sz="3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spcBef>
                <a:spcPts val="640"/>
              </a:spcBef>
              <a:spcAft>
                <a:spcPts val="0"/>
              </a:spcAft>
              <a:buNone/>
            </a:pPr>
            <a:endParaRPr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06D3019-1F9E-DBDA-C456-CBA3409121FC}"/>
              </a:ext>
            </a:extLst>
          </p:cNvPr>
          <p:cNvSpPr txBox="1"/>
          <p:nvPr/>
        </p:nvSpPr>
        <p:spPr>
          <a:xfrm>
            <a:off x="-1079653" y="1399142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>
            <a:spLocks noGrp="1"/>
          </p:cNvSpPr>
          <p:nvPr>
            <p:ph type="title"/>
          </p:nvPr>
        </p:nvSpPr>
        <p:spPr>
          <a:xfrm>
            <a:off x="457200" y="111713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r>
              <a:rPr lang="en-US" sz="4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(Problem Domain)</a:t>
            </a:r>
            <a:endParaRPr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>
            <a:spLocks noGrp="1"/>
          </p:cNvSpPr>
          <p:nvPr>
            <p:ph type="body" idx="1"/>
          </p:nvPr>
        </p:nvSpPr>
        <p:spPr>
          <a:xfrm>
            <a:off x="457200" y="1324675"/>
            <a:ext cx="8229600" cy="48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❖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Growth of digital transactions in BaaS, i</a:t>
            </a:r>
            <a:r>
              <a:rPr lang="en-US" sz="2400" b="1">
                <a:latin typeface="Arial"/>
                <a:ea typeface="Arial"/>
                <a:cs typeface="Arial"/>
                <a:sym typeface="Arial"/>
              </a:rPr>
              <a:t>ncreases exposure to fraud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❖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Fraudulent activities cause</a:t>
            </a:r>
            <a:r>
              <a:rPr lang="en-US" sz="2400" b="1">
                <a:latin typeface="Arial"/>
                <a:ea typeface="Arial"/>
                <a:cs typeface="Arial"/>
                <a:sym typeface="Arial"/>
              </a:rPr>
              <a:t> financial losses, reputational damage, and loss of customer trust.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(Synapse collapse in 2024).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❖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BaaS platforms</a:t>
            </a:r>
            <a:r>
              <a:rPr lang="en-US" sz="2400" b="1">
                <a:latin typeface="Arial"/>
                <a:ea typeface="Arial"/>
                <a:cs typeface="Arial"/>
                <a:sym typeface="Arial"/>
              </a:rPr>
              <a:t> need real-time monitoring to serve Fintech partners.</a:t>
            </a:r>
            <a:endParaRPr sz="24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❖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Current systems struggle with </a:t>
            </a:r>
            <a:r>
              <a:rPr lang="en-US" sz="2400" b="1">
                <a:latin typeface="Arial"/>
                <a:ea typeface="Arial"/>
                <a:cs typeface="Arial"/>
                <a:sym typeface="Arial"/>
              </a:rPr>
              <a:t>accuracy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, with </a:t>
            </a:r>
            <a:r>
              <a:rPr lang="en-US" sz="2400" b="1">
                <a:latin typeface="Arial"/>
                <a:ea typeface="Arial"/>
                <a:cs typeface="Arial"/>
                <a:sym typeface="Arial"/>
              </a:rPr>
              <a:t>high False positive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 (legitimate flagged) and </a:t>
            </a:r>
            <a:r>
              <a:rPr lang="en-US" sz="2400" b="1">
                <a:latin typeface="Arial"/>
                <a:ea typeface="Arial"/>
                <a:cs typeface="Arial"/>
                <a:sym typeface="Arial"/>
              </a:rPr>
              <a:t>high False Negative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(Fraud Missed).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48d70c595f_3_0"/>
          <p:cNvSpPr txBox="1">
            <a:spLocks noGrp="1"/>
          </p:cNvSpPr>
          <p:nvPr>
            <p:ph type="title"/>
          </p:nvPr>
        </p:nvSpPr>
        <p:spPr>
          <a:xfrm>
            <a:off x="457200" y="61223"/>
            <a:ext cx="8229600" cy="9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Description</a:t>
            </a:r>
            <a:endParaRPr sz="4000"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g348d70c595f_3_0"/>
          <p:cNvSpPr txBox="1">
            <a:spLocks noGrp="1"/>
          </p:cNvSpPr>
          <p:nvPr>
            <p:ph type="body" idx="1"/>
          </p:nvPr>
        </p:nvSpPr>
        <p:spPr>
          <a:xfrm>
            <a:off x="404275" y="987625"/>
            <a:ext cx="8843700" cy="16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❖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Dataset:</a:t>
            </a:r>
            <a:r>
              <a:rPr lang="en-US" sz="1400" b="1">
                <a:latin typeface="Arial"/>
                <a:ea typeface="Arial"/>
                <a:cs typeface="Arial"/>
                <a:sym typeface="Arial"/>
              </a:rPr>
              <a:t> IBM Synthetic data for core banking and money laundering.</a:t>
            </a:r>
            <a:endParaRPr sz="1400" b="1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The dataset </a:t>
            </a:r>
            <a:r>
              <a:rPr lang="en-US" sz="1400" b="1">
                <a:latin typeface="Arial"/>
                <a:ea typeface="Arial"/>
                <a:cs typeface="Arial"/>
                <a:sym typeface="Arial"/>
              </a:rPr>
              <a:t>includes simulated banking transactions labeled for money laundering,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 check fraud and automated push payment (APP) fraud.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❖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Include the </a:t>
            </a:r>
            <a:r>
              <a:rPr lang="en-US" sz="1400" b="1">
                <a:latin typeface="Arial"/>
                <a:ea typeface="Arial"/>
                <a:cs typeface="Arial"/>
                <a:sym typeface="Arial"/>
              </a:rPr>
              <a:t>labelled transaction for laundering, check fraud, and legitimate activity.</a:t>
            </a:r>
            <a:endParaRPr sz="14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❖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Provide </a:t>
            </a:r>
            <a:r>
              <a:rPr lang="en-US" sz="1400" b="1">
                <a:latin typeface="Arial"/>
                <a:ea typeface="Arial"/>
                <a:cs typeface="Arial"/>
                <a:sym typeface="Arial"/>
              </a:rPr>
              <a:t>an ethical, realistic alternative to restricted real-world data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.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g348d70c595f_3_0"/>
          <p:cNvSpPr txBox="1">
            <a:spLocks noGrp="1"/>
          </p:cNvSpPr>
          <p:nvPr>
            <p:ph type="body" idx="1"/>
          </p:nvPr>
        </p:nvSpPr>
        <p:spPr>
          <a:xfrm>
            <a:off x="457200" y="2656529"/>
            <a:ext cx="4547100" cy="46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b="1">
                <a:latin typeface="Arial"/>
                <a:ea typeface="Arial"/>
                <a:cs typeface="Arial"/>
                <a:sym typeface="Arial"/>
              </a:rPr>
              <a:t>Realistic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1">
                <a:latin typeface="Arial"/>
                <a:ea typeface="Arial"/>
                <a:cs typeface="Arial"/>
                <a:sym typeface="Arial"/>
              </a:rPr>
              <a:t>synthetic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1">
                <a:latin typeface="Arial"/>
                <a:ea typeface="Arial"/>
                <a:cs typeface="Arial"/>
                <a:sym typeface="Arial"/>
              </a:rPr>
              <a:t>data</a:t>
            </a:r>
            <a:endParaRPr sz="1400"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g348d70c595f_3_0"/>
          <p:cNvSpPr txBox="1">
            <a:spLocks noGrp="1"/>
          </p:cNvSpPr>
          <p:nvPr>
            <p:ph type="body" idx="1"/>
          </p:nvPr>
        </p:nvSpPr>
        <p:spPr>
          <a:xfrm>
            <a:off x="457200" y="6297575"/>
            <a:ext cx="4314000" cy="46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source: IBM synthetic-data-sets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0" name="Google Shape;100;g348d70c595f_3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0026" y="3050775"/>
            <a:ext cx="5772048" cy="3246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/>
          <p:cNvSpPr txBox="1">
            <a:spLocks noGrp="1"/>
          </p:cNvSpPr>
          <p:nvPr>
            <p:ph type="title"/>
          </p:nvPr>
        </p:nvSpPr>
        <p:spPr>
          <a:xfrm>
            <a:off x="457200" y="126013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Proposed Methodology</a:t>
            </a:r>
            <a:endParaRPr sz="4000"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4"/>
          <p:cNvSpPr txBox="1">
            <a:spLocks noGrp="1"/>
          </p:cNvSpPr>
          <p:nvPr>
            <p:ph type="body" idx="1"/>
          </p:nvPr>
        </p:nvSpPr>
        <p:spPr>
          <a:xfrm>
            <a:off x="165650" y="1197300"/>
            <a:ext cx="8890200" cy="56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2270" algn="l" rtl="0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2420"/>
              <a:buChar char="❖"/>
            </a:pPr>
            <a:r>
              <a:rPr lang="en-US" sz="2420" b="1">
                <a:latin typeface="Arial"/>
                <a:ea typeface="Arial"/>
                <a:cs typeface="Arial"/>
                <a:sym typeface="Arial"/>
              </a:rPr>
              <a:t>Approach:</a:t>
            </a:r>
            <a:r>
              <a:rPr lang="en-US" sz="242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20" b="1">
                <a:latin typeface="Arial"/>
                <a:ea typeface="Arial"/>
                <a:cs typeface="Arial"/>
                <a:sym typeface="Arial"/>
              </a:rPr>
              <a:t>Supervised Learning for classification</a:t>
            </a:r>
            <a:r>
              <a:rPr lang="en-US" sz="2420">
                <a:latin typeface="Arial"/>
                <a:ea typeface="Arial"/>
                <a:cs typeface="Arial"/>
                <a:sym typeface="Arial"/>
              </a:rPr>
              <a:t>. (Laundering vs Not Laundering)</a:t>
            </a:r>
            <a:endParaRPr sz="2420">
              <a:latin typeface="Arial"/>
              <a:ea typeface="Arial"/>
              <a:cs typeface="Arial"/>
              <a:sym typeface="Arial"/>
            </a:endParaRPr>
          </a:p>
          <a:p>
            <a:pPr marL="457200" lvl="0" indent="-38227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420"/>
              <a:buChar char="❖"/>
            </a:pPr>
            <a:r>
              <a:rPr lang="en-US" sz="2420" b="1">
                <a:latin typeface="Arial"/>
                <a:ea typeface="Arial"/>
                <a:cs typeface="Arial"/>
                <a:sym typeface="Arial"/>
              </a:rPr>
              <a:t>Algorithms</a:t>
            </a:r>
            <a:r>
              <a:rPr lang="en-US" sz="2420"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2420" b="1">
                <a:latin typeface="Arial"/>
                <a:ea typeface="Arial"/>
                <a:cs typeface="Arial"/>
                <a:sym typeface="Arial"/>
              </a:rPr>
              <a:t>Ensemble learning</a:t>
            </a:r>
            <a:endParaRPr sz="242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420">
                <a:latin typeface="Arial"/>
                <a:ea typeface="Arial"/>
                <a:cs typeface="Arial"/>
                <a:sym typeface="Arial"/>
              </a:rPr>
              <a:t> (Random Forest, Gradient Boosting, Adaboost, and more).</a:t>
            </a:r>
            <a:endParaRPr sz="2420">
              <a:latin typeface="Arial"/>
              <a:ea typeface="Arial"/>
              <a:cs typeface="Arial"/>
              <a:sym typeface="Arial"/>
            </a:endParaRPr>
          </a:p>
          <a:p>
            <a:pPr marL="457200" lvl="0" indent="-382270" algn="l" rtl="0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2420"/>
              <a:buChar char="❖"/>
            </a:pPr>
            <a:r>
              <a:rPr lang="en-US" sz="2420" b="1">
                <a:latin typeface="Arial"/>
                <a:ea typeface="Arial"/>
                <a:cs typeface="Arial"/>
                <a:sym typeface="Arial"/>
              </a:rPr>
              <a:t>Data pipeline: </a:t>
            </a:r>
            <a:endParaRPr sz="2420"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018"/>
              <a:buNone/>
            </a:pPr>
            <a:r>
              <a:rPr lang="en-US" sz="2220">
                <a:latin typeface="Arial"/>
                <a:ea typeface="Arial"/>
                <a:cs typeface="Arial"/>
                <a:sym typeface="Arial"/>
              </a:rPr>
              <a:t>Ingestion → Preprocessing→ Modeling→ Evaluation→ Deployment.</a:t>
            </a:r>
            <a:endParaRPr sz="2220">
              <a:latin typeface="Arial"/>
              <a:ea typeface="Arial"/>
              <a:cs typeface="Arial"/>
              <a:sym typeface="Arial"/>
            </a:endParaRPr>
          </a:p>
          <a:p>
            <a:pPr marL="457200" lvl="0" indent="-382270" algn="l" rtl="0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2420"/>
              <a:buFont typeface="Arial"/>
              <a:buChar char="❖"/>
            </a:pPr>
            <a:r>
              <a:rPr lang="en-US" sz="2420" b="1">
                <a:latin typeface="Arial"/>
                <a:ea typeface="Arial"/>
                <a:cs typeface="Arial"/>
                <a:sym typeface="Arial"/>
              </a:rPr>
              <a:t>Deployment</a:t>
            </a:r>
            <a:r>
              <a:rPr lang="en-US" sz="2420"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2420" b="1">
                <a:latin typeface="Arial"/>
                <a:ea typeface="Arial"/>
                <a:cs typeface="Arial"/>
                <a:sym typeface="Arial"/>
              </a:rPr>
              <a:t>Streamlit app</a:t>
            </a:r>
            <a:r>
              <a:rPr lang="en-US" sz="2420">
                <a:latin typeface="Arial"/>
                <a:ea typeface="Arial"/>
                <a:cs typeface="Arial"/>
                <a:sym typeface="Arial"/>
              </a:rPr>
              <a:t> with alerting risk  integration.</a:t>
            </a:r>
            <a:endParaRPr sz="242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First Ideas (Expected to Evolve)</a:t>
            </a:r>
            <a:endParaRPr sz="4000"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5"/>
          <p:cNvSpPr txBox="1">
            <a:spLocks noGrp="1"/>
          </p:cNvSpPr>
          <p:nvPr>
            <p:ph type="body" idx="1"/>
          </p:nvPr>
        </p:nvSpPr>
        <p:spPr>
          <a:xfrm>
            <a:off x="512425" y="12827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❖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Simulate </a:t>
            </a:r>
            <a:r>
              <a:rPr lang="en-US" sz="2400" b="1">
                <a:latin typeface="Arial"/>
                <a:ea typeface="Arial"/>
                <a:cs typeface="Arial"/>
                <a:sym typeface="Arial"/>
              </a:rPr>
              <a:t>batch transaction streams to mimic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1">
                <a:latin typeface="Arial"/>
                <a:ea typeface="Arial"/>
                <a:cs typeface="Arial"/>
                <a:sym typeface="Arial"/>
              </a:rPr>
              <a:t>real-time monitoring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❖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Build </a:t>
            </a:r>
            <a:r>
              <a:rPr lang="en-US" sz="2400" b="1">
                <a:latin typeface="Arial"/>
                <a:ea typeface="Arial"/>
                <a:cs typeface="Arial"/>
                <a:sym typeface="Arial"/>
              </a:rPr>
              <a:t>compliance-focused dashboard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 for compliance teams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❖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Consider </a:t>
            </a:r>
            <a:r>
              <a:rPr lang="en-US" sz="2400" b="1">
                <a:latin typeface="Arial"/>
                <a:ea typeface="Arial"/>
                <a:cs typeface="Arial"/>
                <a:sym typeface="Arial"/>
              </a:rPr>
              <a:t>ensemble or multi model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 approaches for robustness and better accuracy.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❖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Implements alerts notifications, that are flagged as risk.</a:t>
            </a:r>
            <a:endParaRPr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48d9006294_0_33"/>
          <p:cNvSpPr txBox="1">
            <a:spLocks noGrp="1"/>
          </p:cNvSpPr>
          <p:nvPr>
            <p:ph type="title"/>
          </p:nvPr>
        </p:nvSpPr>
        <p:spPr>
          <a:xfrm>
            <a:off x="457200" y="-1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Intended Results and Benefits</a:t>
            </a:r>
            <a:endParaRPr sz="4000"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g348d9006294_0_33"/>
          <p:cNvSpPr txBox="1">
            <a:spLocks noGrp="1"/>
          </p:cNvSpPr>
          <p:nvPr>
            <p:ph type="body" idx="1"/>
          </p:nvPr>
        </p:nvSpPr>
        <p:spPr>
          <a:xfrm>
            <a:off x="110700" y="1050400"/>
            <a:ext cx="3613500" cy="55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600" b="1">
                <a:latin typeface="Arial"/>
                <a:ea typeface="Arial"/>
                <a:cs typeface="Arial"/>
                <a:sym typeface="Arial"/>
              </a:rPr>
              <a:t>Intended Result </a:t>
            </a:r>
            <a:endParaRPr sz="13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31115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Arial"/>
              <a:buChar char="❖"/>
            </a:pPr>
            <a:r>
              <a:rPr lang="en-US" sz="1300" b="1">
                <a:latin typeface="Arial"/>
                <a:ea typeface="Arial"/>
                <a:cs typeface="Arial"/>
                <a:sym typeface="Arial"/>
              </a:rPr>
              <a:t>Deliver a functional fraud detection dashboard.</a:t>
            </a:r>
            <a:endParaRPr sz="13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13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31115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300"/>
              <a:buChar char="❖"/>
            </a:pPr>
            <a:r>
              <a:rPr lang="en-US" sz="1300" b="1">
                <a:latin typeface="Arial"/>
                <a:ea typeface="Arial"/>
                <a:cs typeface="Arial"/>
                <a:sym typeface="Arial"/>
              </a:rPr>
              <a:t> Improve detection accuracy and efficiency over rule-based methods.</a:t>
            </a:r>
            <a:endParaRPr sz="13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13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31115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Arial"/>
              <a:buChar char="❖"/>
            </a:pPr>
            <a:r>
              <a:rPr lang="en-US" sz="1300" b="1">
                <a:latin typeface="Arial"/>
                <a:ea typeface="Arial"/>
                <a:cs typeface="Arial"/>
                <a:sym typeface="Arial"/>
              </a:rPr>
              <a:t>Provide actionable insights for the compliance team.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g348d9006294_0_33"/>
          <p:cNvSpPr txBox="1">
            <a:spLocks noGrp="1"/>
          </p:cNvSpPr>
          <p:nvPr>
            <p:ph type="body" idx="1"/>
          </p:nvPr>
        </p:nvSpPr>
        <p:spPr>
          <a:xfrm>
            <a:off x="3502650" y="909300"/>
            <a:ext cx="5543100" cy="55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600" b="1">
                <a:latin typeface="Arial"/>
                <a:ea typeface="Arial"/>
                <a:cs typeface="Arial"/>
                <a:sym typeface="Arial"/>
              </a:rPr>
              <a:t>Project Benefit </a:t>
            </a:r>
            <a:endParaRPr sz="16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400"/>
              <a:buFont typeface="Arial"/>
              <a:buChar char="❖"/>
            </a:pPr>
            <a:r>
              <a:rPr lang="en-US" sz="1400" b="1">
                <a:latin typeface="Arial"/>
                <a:ea typeface="Arial"/>
                <a:cs typeface="Arial"/>
                <a:sym typeface="Arial"/>
              </a:rPr>
              <a:t>Reduced Financial Losses  and Increased Operational Efficiency.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 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The company saves money by catching more fraud. The compliance team saves time and resources by investigating fewer false alerts.</a:t>
            </a:r>
            <a:endParaRPr sz="14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400"/>
              <a:buFont typeface="Arial"/>
              <a:buChar char="❖"/>
            </a:pPr>
            <a:r>
              <a:rPr lang="en-US" sz="1400" b="1">
                <a:latin typeface="Arial"/>
                <a:ea typeface="Arial"/>
                <a:cs typeface="Arial"/>
                <a:sym typeface="Arial"/>
              </a:rPr>
              <a:t>2. Enhanced Transparency &amp; Strengthened Trust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The dashboard provides a clear, real-time view of risk, which builds confidence with partners and regulators. 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400"/>
              <a:buFont typeface="Arial"/>
              <a:buChar char="❖"/>
            </a:pPr>
            <a:r>
              <a:rPr lang="en-US" sz="1400" b="1">
                <a:latin typeface="Arial"/>
                <a:ea typeface="Arial"/>
                <a:cs typeface="Arial"/>
                <a:sym typeface="Arial"/>
              </a:rPr>
              <a:t>Empowered, Data-Driven Decision-Making and Proactive Security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Instead of just getting an alert, the team understands why it was flagged. 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This leads to faster, more accurate investigations and helps identify new threat patterns before they cause significant damage.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48d9006294_0_47"/>
          <p:cNvSpPr txBox="1">
            <a:spLocks noGrp="1"/>
          </p:cNvSpPr>
          <p:nvPr>
            <p:ph type="title"/>
          </p:nvPr>
        </p:nvSpPr>
        <p:spPr>
          <a:xfrm>
            <a:off x="457200" y="3634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0000"/>
              <a:buFont typeface="Calibri"/>
              <a:buNone/>
            </a:pPr>
            <a:r>
              <a:rPr lang="en-US" sz="4000" b="1">
                <a:latin typeface="Arial"/>
                <a:ea typeface="Arial"/>
                <a:cs typeface="Arial"/>
                <a:sym typeface="Arial"/>
              </a:rPr>
              <a:t>Outputs &amp; Real-World Use</a:t>
            </a:r>
            <a:endParaRPr sz="4000"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0000"/>
              <a:buFont typeface="Calibri"/>
              <a:buNone/>
            </a:pPr>
            <a:endParaRPr sz="4000"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g348d9006294_0_47"/>
          <p:cNvSpPr txBox="1">
            <a:spLocks noGrp="1"/>
          </p:cNvSpPr>
          <p:nvPr>
            <p:ph type="body" idx="1"/>
          </p:nvPr>
        </p:nvSpPr>
        <p:spPr>
          <a:xfrm>
            <a:off x="310125" y="1365200"/>
            <a:ext cx="3613500" cy="51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600" b="1">
                <a:latin typeface="Arial"/>
                <a:ea typeface="Arial"/>
                <a:cs typeface="Arial"/>
                <a:sym typeface="Arial"/>
              </a:rPr>
              <a:t>Outputs</a:t>
            </a:r>
            <a:endParaRPr sz="14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400"/>
              <a:buFont typeface="Arial"/>
              <a:buChar char="❖"/>
            </a:pPr>
            <a:r>
              <a:rPr lang="en-US" sz="1400" b="1">
                <a:latin typeface="Arial"/>
                <a:ea typeface="Arial"/>
                <a:cs typeface="Arial"/>
                <a:sym typeface="Arial"/>
              </a:rPr>
              <a:t>A Trained Machine Learning Model:</a:t>
            </a:r>
            <a:endParaRPr sz="14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400" b="1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A model that validated to outperform legacy rule-based methods in both accuracy and efficiency.</a:t>
            </a:r>
            <a:endParaRPr sz="14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400"/>
              <a:buFont typeface="Arial"/>
              <a:buChar char="❖"/>
            </a:pPr>
            <a:r>
              <a:rPr lang="en-US" sz="1400" b="1">
                <a:latin typeface="Arial"/>
                <a:ea typeface="Arial"/>
                <a:cs typeface="Arial"/>
                <a:sym typeface="Arial"/>
              </a:rPr>
              <a:t>A Functional Fraud Monitoring Dashboard: </a:t>
            </a:r>
            <a:endParaRPr sz="14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A centralized, visual interface that displays key risk indicators, model alerts, and transaction data in real-time.</a:t>
            </a:r>
            <a:endParaRPr sz="1400"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g348d9006294_0_47"/>
          <p:cNvSpPr txBox="1">
            <a:spLocks noGrp="1"/>
          </p:cNvSpPr>
          <p:nvPr>
            <p:ph type="body" idx="1"/>
          </p:nvPr>
        </p:nvSpPr>
        <p:spPr>
          <a:xfrm>
            <a:off x="3701150" y="1365200"/>
            <a:ext cx="5543100" cy="473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600" b="1">
                <a:latin typeface="Arial"/>
                <a:ea typeface="Arial"/>
                <a:cs typeface="Arial"/>
                <a:sym typeface="Arial"/>
              </a:rPr>
              <a:t>Real world Use</a:t>
            </a:r>
            <a:endParaRPr sz="16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400"/>
              <a:buFont typeface="Arial"/>
              <a:buChar char="❖"/>
            </a:pPr>
            <a:r>
              <a:rPr lang="en-US" sz="1400" b="1">
                <a:latin typeface="Arial"/>
                <a:ea typeface="Arial"/>
                <a:cs typeface="Arial"/>
                <a:sym typeface="Arial"/>
              </a:rPr>
              <a:t>Automated &amp; Precise Threat Detection: </a:t>
            </a:r>
            <a:endParaRPr sz="14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The model is used to automatically scan transactions in real-time, stopping sophisticated fraud attempts instantly while reducing the number of legitimate customers who are incorrectly flagged.</a:t>
            </a:r>
            <a:endParaRPr sz="14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400"/>
              <a:buFont typeface="Arial"/>
              <a:buChar char="❖"/>
            </a:pPr>
            <a:r>
              <a:rPr lang="en-US" sz="1400" b="1">
                <a:latin typeface="Arial"/>
                <a:ea typeface="Arial"/>
                <a:cs typeface="Arial"/>
                <a:sym typeface="Arial"/>
              </a:rPr>
              <a:t>Centralized Risk Command Center: </a:t>
            </a:r>
            <a:endParaRPr sz="14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The compliance team uses the dashboard daily to monitor the platform's health, prioritize the most critical alerts, and provide transparent, data-driven reports to regulators and partners.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48d9006294_0_59"/>
          <p:cNvSpPr txBox="1">
            <a:spLocks noGrp="1"/>
          </p:cNvSpPr>
          <p:nvPr>
            <p:ph type="title"/>
          </p:nvPr>
        </p:nvSpPr>
        <p:spPr>
          <a:xfrm>
            <a:off x="622850" y="28574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0000"/>
              <a:buFont typeface="Calibri"/>
              <a:buNone/>
            </a:pPr>
            <a:r>
              <a:rPr lang="en-US" sz="4000" b="1">
                <a:latin typeface="Arial"/>
                <a:ea typeface="Arial"/>
                <a:cs typeface="Arial"/>
                <a:sym typeface="Arial"/>
              </a:rPr>
              <a:t>Thank You </a:t>
            </a:r>
            <a:endParaRPr sz="4000"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0000"/>
              <a:buFont typeface="Calibri"/>
              <a:buNone/>
            </a:pPr>
            <a:endParaRPr sz="4000" b="1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48d9006294_0_65"/>
          <p:cNvSpPr txBox="1">
            <a:spLocks noGrp="1"/>
          </p:cNvSpPr>
          <p:nvPr>
            <p:ph type="title"/>
          </p:nvPr>
        </p:nvSpPr>
        <p:spPr>
          <a:xfrm>
            <a:off x="137850" y="952500"/>
            <a:ext cx="9006300" cy="50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70967"/>
              <a:buFont typeface="Arial"/>
              <a:buNone/>
            </a:pPr>
            <a:endParaRPr sz="1550" b="1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0967"/>
              <a:buFont typeface="Arial"/>
              <a:buNone/>
            </a:pPr>
            <a:r>
              <a:rPr lang="en-US" sz="1550" b="1" dirty="0">
                <a:latin typeface="Arial"/>
                <a:ea typeface="Arial"/>
                <a:cs typeface="Arial"/>
                <a:sym typeface="Arial"/>
              </a:rPr>
              <a:t>The connection between FinTech failure and a lack of transparency in fraud monitoring is all about trust.</a:t>
            </a:r>
            <a:r>
              <a:rPr lang="en-US" sz="1550" dirty="0">
                <a:latin typeface="Arial"/>
                <a:ea typeface="Arial"/>
                <a:cs typeface="Arial"/>
                <a:sym typeface="Arial"/>
              </a:rPr>
              <a:t> </a:t>
            </a:r>
            <a:endParaRPr sz="155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0967"/>
              <a:buFont typeface="Arial"/>
              <a:buNone/>
            </a:pPr>
            <a:r>
              <a:rPr lang="en-US" sz="1550" dirty="0">
                <a:latin typeface="Arial"/>
                <a:ea typeface="Arial"/>
                <a:cs typeface="Arial"/>
                <a:sym typeface="Arial"/>
              </a:rPr>
              <a:t>BaaS platforms don't operate in a vacuum, they depend on partner banks (who hold the actual banking licenses) and regulators for their existence. </a:t>
            </a:r>
            <a:endParaRPr sz="155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0967"/>
              <a:buFont typeface="Arial"/>
              <a:buNone/>
            </a:pPr>
            <a:r>
              <a:rPr lang="en-US" sz="1550" dirty="0">
                <a:latin typeface="Arial"/>
                <a:ea typeface="Arial"/>
                <a:cs typeface="Arial"/>
                <a:sym typeface="Arial"/>
              </a:rPr>
              <a:t>If a FinTech has an approach to risk monitoring, partners and regulators have no visibility into how effectively the platform is protecting the financial system from bad actors.</a:t>
            </a:r>
            <a:endParaRPr sz="155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0967"/>
              <a:buFont typeface="Arial"/>
              <a:buNone/>
            </a:pPr>
            <a:r>
              <a:rPr lang="en-US" sz="1550" dirty="0">
                <a:latin typeface="Arial"/>
                <a:ea typeface="Arial"/>
                <a:cs typeface="Arial"/>
                <a:sym typeface="Arial"/>
              </a:rPr>
              <a:t>When a major fraud incident occurs (and it will), a lack of transparency creates a crisis of confidence. The partner bank and regulators will ask:</a:t>
            </a:r>
            <a:endParaRPr sz="155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17182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Arial"/>
              <a:buChar char="❖"/>
            </a:pPr>
            <a:r>
              <a:rPr lang="en-US" sz="1550" i="1" dirty="0">
                <a:latin typeface="Arial"/>
                <a:ea typeface="Arial"/>
                <a:cs typeface="Arial"/>
                <a:sym typeface="Arial"/>
              </a:rPr>
              <a:t>Why wasn't this caught?</a:t>
            </a:r>
            <a:endParaRPr sz="1550" i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17182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❖"/>
            </a:pPr>
            <a:r>
              <a:rPr lang="en-US" sz="1550" i="1" dirty="0">
                <a:latin typeface="Arial"/>
                <a:ea typeface="Arial"/>
                <a:cs typeface="Arial"/>
                <a:sym typeface="Arial"/>
              </a:rPr>
              <a:t>What is your process for detecting this?</a:t>
            </a:r>
            <a:endParaRPr sz="1550" i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17182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❖"/>
            </a:pPr>
            <a:r>
              <a:rPr lang="en-US" sz="1550" i="1" dirty="0">
                <a:latin typeface="Arial"/>
                <a:ea typeface="Arial"/>
                <a:cs typeface="Arial"/>
                <a:sym typeface="Arial"/>
              </a:rPr>
              <a:t>How can we be sure it won't happen again?</a:t>
            </a:r>
            <a:endParaRPr sz="1550" i="1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0967"/>
              <a:buFont typeface="Arial"/>
              <a:buNone/>
            </a:pPr>
            <a:r>
              <a:rPr lang="en-US" sz="1550" dirty="0">
                <a:latin typeface="Arial"/>
                <a:ea typeface="Arial"/>
                <a:cs typeface="Arial"/>
                <a:sym typeface="Arial"/>
              </a:rPr>
              <a:t>If the FinTech can't provide clear, data-backed answers, partners may completely and permanently end a relationship and regulators may impose fines or even revoke the ability to operate. </a:t>
            </a:r>
            <a:endParaRPr sz="1550" dirty="0">
              <a:latin typeface="Arial"/>
              <a:ea typeface="Arial"/>
              <a:cs typeface="Arial"/>
              <a:sym typeface="Arial"/>
            </a:endParaRPr>
          </a:p>
          <a:p>
            <a:pPr marL="914400" lvl="0" indent="4572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0967"/>
              <a:buFont typeface="Arial"/>
              <a:buNone/>
            </a:pPr>
            <a:r>
              <a:rPr lang="en-US" sz="1550" b="1" dirty="0">
                <a:latin typeface="Arial"/>
                <a:ea typeface="Arial"/>
                <a:cs typeface="Arial"/>
                <a:sym typeface="Arial"/>
              </a:rPr>
              <a:t>This loss of trust is a direct path to business failure.</a:t>
            </a:r>
            <a:endParaRPr sz="1550" b="1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10000"/>
              <a:buFont typeface="Calibri"/>
              <a:buNone/>
            </a:pPr>
            <a:endParaRPr sz="4000" b="1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0000"/>
              <a:buFont typeface="Calibri"/>
              <a:buNone/>
            </a:pPr>
            <a:endParaRPr sz="4000" b="1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g348d9006294_0_65"/>
          <p:cNvSpPr txBox="1"/>
          <p:nvPr/>
        </p:nvSpPr>
        <p:spPr>
          <a:xfrm>
            <a:off x="553825" y="164925"/>
            <a:ext cx="7843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en-US" sz="2400" b="1">
                <a:solidFill>
                  <a:schemeClr val="dk1"/>
                </a:solidFill>
              </a:rPr>
              <a:t>Answers for the feedback on the last presentation</a:t>
            </a:r>
            <a:endParaRPr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9165</TotalTime>
  <Words>850</Words>
  <Application>Microsoft Macintosh PowerPoint</Application>
  <PresentationFormat>On-screen Show (4:3)</PresentationFormat>
  <Paragraphs>88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Bank-as-a-Service(Baas) Risk Monitoring</vt:lpstr>
      <vt:lpstr>Introduction (Problem Domain)</vt:lpstr>
      <vt:lpstr>Data Description</vt:lpstr>
      <vt:lpstr>Proposed Methodology</vt:lpstr>
      <vt:lpstr>First Ideas (Expected to Evolve)</vt:lpstr>
      <vt:lpstr>Intended Results and Benefits</vt:lpstr>
      <vt:lpstr>Outputs &amp; Real-World Use </vt:lpstr>
      <vt:lpstr>Thank You  </vt:lpstr>
      <vt:lpstr>   The connection between FinTech failure and a lack of transparency in fraud monitoring is all about trust.  BaaS platforms don't operate in a vacuum, they depend on partner banks (who hold the actual banking licenses) and regulators for their existence.  If a FinTech has an approach to risk monitoring, partners and regulators have no visibility into how effectively the platform is protecting the financial system from bad actors. When a major fraud incident occurs (and it will), a lack of transparency creates a crisis of confidence. The partner bank and regulators will ask: Why wasn't this caught? What is your process for detecting this? How can we be sure it won't happen again? If the FinTech can't provide clear, data-backed answers, partners may completely and permanently end a relationship and regulators may impose fines or even revoke the ability to operate.  This loss of trust is a direct path to business failure.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Kojo Pinto</dc:creator>
  <cp:lastModifiedBy>Kaduli,Delphin J KADULI</cp:lastModifiedBy>
  <cp:revision>4</cp:revision>
  <dcterms:created xsi:type="dcterms:W3CDTF">2013-01-27T09:14:16Z</dcterms:created>
  <dcterms:modified xsi:type="dcterms:W3CDTF">2025-09-16T22:01:26Z</dcterms:modified>
</cp:coreProperties>
</file>