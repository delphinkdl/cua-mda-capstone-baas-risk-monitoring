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48f0e7c915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48f0e7c91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48f0e7c915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48f0e7c915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7f8986b70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g37f8986b70d_0_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7ffb87875b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g37ffb87875b_1_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7ffb87875b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g37ffb87875b_1_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7ffb87875b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g37ffb87875b_1_3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7ffb87875b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37ffb87875b_1_1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7ffb87875b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37ffb87875b_1_2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7ffb87875b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7ffb87875b_1_4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48f0e7c915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48f0e7c915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685800" y="1163306"/>
            <a:ext cx="7772400" cy="110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Bank-as-a-Service(Baas) Risk Monitoring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179375" y="2997356"/>
            <a:ext cx="8762100" cy="197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Delphin</a:t>
            </a:r>
            <a:r>
              <a:rPr lang="en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| </a:t>
            </a:r>
            <a:r>
              <a:rPr b="1" lang="en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Solomon</a:t>
            </a:r>
            <a:r>
              <a:rPr lang="en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| </a:t>
            </a:r>
            <a:r>
              <a:rPr b="1" lang="en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Tycho</a:t>
            </a:r>
            <a:endParaRPr b="1"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Catholic University of America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en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Capstone Project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en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Fall 2025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4"/>
          <p:cNvSpPr txBox="1"/>
          <p:nvPr>
            <p:ph idx="1" type="subTitle"/>
          </p:nvPr>
        </p:nvSpPr>
        <p:spPr>
          <a:xfrm>
            <a:off x="504325" y="2248804"/>
            <a:ext cx="8762100" cy="6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Week progress: Data cleaning and EDA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rPr b="1" lang="en" sz="2500">
                <a:solidFill>
                  <a:srgbClr val="202122"/>
                </a:solidFill>
                <a:highlight>
                  <a:srgbClr val="FFFFFF"/>
                </a:highlight>
              </a:rPr>
              <a:t>Problem Definition</a:t>
            </a:r>
            <a:endParaRPr b="1" sz="2500"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4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/>
        </p:nvSpPr>
        <p:spPr>
          <a:xfrm>
            <a:off x="311700" y="1125000"/>
            <a:ext cx="8520600" cy="38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814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40"/>
              <a:buChar char="❖"/>
            </a:pPr>
            <a:r>
              <a:rPr lang="en" sz="2040">
                <a:solidFill>
                  <a:srgbClr val="000000"/>
                </a:solidFill>
              </a:rPr>
              <a:t>Growth of digital transactions in BaaS, i</a:t>
            </a:r>
            <a:r>
              <a:rPr b="1" lang="en" sz="2040">
                <a:solidFill>
                  <a:srgbClr val="000000"/>
                </a:solidFill>
              </a:rPr>
              <a:t>ncreases exposure to fraud</a:t>
            </a:r>
            <a:r>
              <a:rPr lang="en" sz="2040">
                <a:solidFill>
                  <a:srgbClr val="000000"/>
                </a:solidFill>
              </a:rPr>
              <a:t>.</a:t>
            </a:r>
            <a:endParaRPr sz="2040">
              <a:solidFill>
                <a:srgbClr val="000000"/>
              </a:solidFill>
            </a:endParaRPr>
          </a:p>
          <a:p>
            <a:pPr indent="-35814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40"/>
              <a:buChar char="❖"/>
            </a:pPr>
            <a:r>
              <a:rPr lang="en" sz="2040">
                <a:solidFill>
                  <a:srgbClr val="000000"/>
                </a:solidFill>
              </a:rPr>
              <a:t>Fraudulent activities cause</a:t>
            </a:r>
            <a:r>
              <a:rPr b="1" lang="en" sz="2040">
                <a:solidFill>
                  <a:srgbClr val="000000"/>
                </a:solidFill>
              </a:rPr>
              <a:t> financial losses, reputational damage, and loss of customer trust.</a:t>
            </a:r>
            <a:r>
              <a:rPr lang="en" sz="2040">
                <a:solidFill>
                  <a:srgbClr val="000000"/>
                </a:solidFill>
              </a:rPr>
              <a:t>(Synapse collapse in 2024).</a:t>
            </a:r>
            <a:endParaRPr sz="2040">
              <a:solidFill>
                <a:srgbClr val="000000"/>
              </a:solidFill>
            </a:endParaRPr>
          </a:p>
          <a:p>
            <a:pPr indent="-35814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40"/>
              <a:buChar char="❖"/>
            </a:pPr>
            <a:r>
              <a:rPr lang="en" sz="2040">
                <a:solidFill>
                  <a:srgbClr val="000000"/>
                </a:solidFill>
              </a:rPr>
              <a:t>BaaS platforms</a:t>
            </a:r>
            <a:r>
              <a:rPr b="1" lang="en" sz="2040">
                <a:solidFill>
                  <a:srgbClr val="000000"/>
                </a:solidFill>
              </a:rPr>
              <a:t> need real-time monitoring to serve Fintech partners.</a:t>
            </a:r>
            <a:endParaRPr b="1" sz="2040">
              <a:solidFill>
                <a:srgbClr val="000000"/>
              </a:solidFill>
            </a:endParaRPr>
          </a:p>
          <a:p>
            <a:pPr indent="-35814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40"/>
              <a:buChar char="❖"/>
            </a:pPr>
            <a:r>
              <a:rPr lang="en" sz="2040">
                <a:solidFill>
                  <a:srgbClr val="000000"/>
                </a:solidFill>
              </a:rPr>
              <a:t>Current systems struggle with </a:t>
            </a:r>
            <a:r>
              <a:rPr b="1" lang="en" sz="2040">
                <a:solidFill>
                  <a:srgbClr val="000000"/>
                </a:solidFill>
              </a:rPr>
              <a:t>accuracy</a:t>
            </a:r>
            <a:r>
              <a:rPr lang="en" sz="2040">
                <a:solidFill>
                  <a:srgbClr val="000000"/>
                </a:solidFill>
              </a:rPr>
              <a:t>, with </a:t>
            </a:r>
            <a:r>
              <a:rPr b="1" lang="en" sz="2040">
                <a:solidFill>
                  <a:srgbClr val="000000"/>
                </a:solidFill>
              </a:rPr>
              <a:t>high False positive</a:t>
            </a:r>
            <a:r>
              <a:rPr lang="en" sz="2040">
                <a:solidFill>
                  <a:srgbClr val="000000"/>
                </a:solidFill>
              </a:rPr>
              <a:t> (legitimate flagged) and </a:t>
            </a:r>
            <a:r>
              <a:rPr b="1" lang="en" sz="2040">
                <a:solidFill>
                  <a:srgbClr val="000000"/>
                </a:solidFill>
              </a:rPr>
              <a:t>high False Negative</a:t>
            </a:r>
            <a:r>
              <a:rPr lang="en" sz="2040">
                <a:solidFill>
                  <a:srgbClr val="000000"/>
                </a:solidFill>
              </a:rPr>
              <a:t>(Fraud Missed).</a:t>
            </a:r>
            <a:endParaRPr sz="204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457200" y="45917"/>
            <a:ext cx="82296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Calibri"/>
              <a:buNone/>
            </a:pPr>
            <a:r>
              <a:rPr b="1" lang="en" sz="4000"/>
              <a:t>Data overview</a:t>
            </a:r>
            <a:endParaRPr b="1" sz="4000"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244425" y="740725"/>
            <a:ext cx="8899500" cy="44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619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❖"/>
            </a:pPr>
            <a:r>
              <a:rPr b="1" lang="en" sz="2100"/>
              <a:t>Dataset Source:</a:t>
            </a:r>
            <a:r>
              <a:rPr b="1" lang="en" sz="2100">
                <a:latin typeface="Arial"/>
                <a:ea typeface="Arial"/>
                <a:cs typeface="Arial"/>
                <a:sym typeface="Arial"/>
              </a:rPr>
              <a:t> IBM Synthetic data for core banking and money laundering.</a:t>
            </a:r>
            <a:endParaRPr sz="2100"/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❖"/>
            </a:pPr>
            <a:r>
              <a:rPr b="1" lang="en" sz="2100"/>
              <a:t>Loaded: 31+M Entries, 11 columns</a:t>
            </a:r>
            <a:r>
              <a:rPr lang="en" sz="2100"/>
              <a:t> </a:t>
            </a:r>
            <a:endParaRPr sz="2100"/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❖"/>
            </a:pPr>
            <a:r>
              <a:rPr b="1" lang="en" sz="2100"/>
              <a:t>Initial checks</a:t>
            </a:r>
            <a:r>
              <a:rPr lang="en" sz="2100"/>
              <a:t>: dtypes, shape, missing values</a:t>
            </a:r>
            <a:endParaRPr sz="2100"/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❖"/>
            </a:pPr>
            <a:r>
              <a:rPr lang="en" sz="2100"/>
              <a:t>Found: </a:t>
            </a:r>
            <a:endParaRPr sz="2100"/>
          </a:p>
          <a:p>
            <a:pPr indent="-3619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➢"/>
            </a:pPr>
            <a:r>
              <a:rPr b="1" lang="en" sz="2100"/>
              <a:t>Timestamp</a:t>
            </a:r>
            <a:r>
              <a:rPr lang="en" sz="2100"/>
              <a:t> as object → needs conversion</a:t>
            </a:r>
            <a:endParaRPr b="1" sz="90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619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➢"/>
            </a:pPr>
            <a:r>
              <a:rPr b="1" lang="en" sz="2100"/>
              <a:t>Accounts</a:t>
            </a:r>
            <a:r>
              <a:rPr lang="en" sz="2100"/>
              <a:t>: IDs, should remain strings</a:t>
            </a:r>
            <a:endParaRPr sz="9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619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➢"/>
            </a:pPr>
            <a:r>
              <a:rPr b="1" lang="en" sz="2100"/>
              <a:t>Amounts</a:t>
            </a:r>
            <a:r>
              <a:rPr lang="en" sz="2100"/>
              <a:t>: long-tail distribution with extreme outliers</a:t>
            </a:r>
            <a:endParaRPr sz="2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579425" y="304692"/>
            <a:ext cx="82296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Calibri"/>
              <a:buNone/>
            </a:pPr>
            <a:r>
              <a:rPr b="1" lang="en" sz="4000"/>
              <a:t>Schema Fixes</a:t>
            </a:r>
            <a:endParaRPr b="1" sz="4000"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514025" y="1085775"/>
            <a:ext cx="8360400" cy="35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619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❖"/>
            </a:pPr>
            <a:r>
              <a:rPr lang="en" sz="2100"/>
              <a:t>Converted</a:t>
            </a:r>
            <a:r>
              <a:rPr b="1" lang="en" sz="2100"/>
              <a:t> Timestamp → datetime</a:t>
            </a:r>
            <a:endParaRPr b="1" sz="2100"/>
          </a:p>
          <a:p>
            <a:pPr indent="-3619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❖"/>
            </a:pPr>
            <a:r>
              <a:rPr lang="en" sz="2100"/>
              <a:t>Converted</a:t>
            </a:r>
            <a:r>
              <a:rPr b="1" lang="en" sz="2100"/>
              <a:t> Payment/Receiving Currency &amp; Payment Format → categorical</a:t>
            </a:r>
            <a:endParaRPr b="1" sz="2100"/>
          </a:p>
          <a:p>
            <a:pPr indent="-3619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❖"/>
            </a:pPr>
            <a:r>
              <a:rPr lang="en" sz="2100"/>
              <a:t>Memory usage reduced</a:t>
            </a:r>
            <a:r>
              <a:rPr b="1" lang="en" sz="2100"/>
              <a:t>: 2.6 GB → 2.0 GB</a:t>
            </a:r>
            <a:endParaRPr b="1" sz="2100"/>
          </a:p>
          <a:p>
            <a:pPr indent="-3619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❖"/>
            </a:pPr>
            <a:r>
              <a:rPr b="1" lang="en" sz="2100"/>
              <a:t> </a:t>
            </a:r>
            <a:r>
              <a:rPr lang="en" sz="2100"/>
              <a:t>Accounts retained as string IDs</a:t>
            </a:r>
            <a:endParaRPr sz="2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457200" y="380192"/>
            <a:ext cx="82296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Calibri"/>
              <a:buNone/>
            </a:pPr>
            <a:r>
              <a:rPr b="1" lang="en" sz="4000"/>
              <a:t>Duplicates &amp; Integrity</a:t>
            </a:r>
            <a:endParaRPr b="1" sz="4000"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414050" y="1215200"/>
            <a:ext cx="8899500" cy="35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619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❖"/>
            </a:pPr>
            <a:r>
              <a:rPr lang="en" sz="2100"/>
              <a:t>Convert</a:t>
            </a:r>
            <a:r>
              <a:rPr b="1" lang="en" sz="2100"/>
              <a:t> Timestamp → datetime</a:t>
            </a:r>
            <a:endParaRPr b="1" sz="2100"/>
          </a:p>
          <a:p>
            <a:pPr indent="-3619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❖"/>
            </a:pPr>
            <a:r>
              <a:rPr lang="en" sz="2100"/>
              <a:t>Converted</a:t>
            </a:r>
            <a:r>
              <a:rPr b="1" lang="en" sz="2100"/>
              <a:t> Payment/Receiving Currency &amp; Payment Format →</a:t>
            </a:r>
            <a:endParaRPr sz="2100"/>
          </a:p>
          <a:p>
            <a:pPr indent="-3619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❖"/>
            </a:pPr>
            <a:r>
              <a:rPr b="1" lang="en" sz="2100"/>
              <a:t>Found</a:t>
            </a:r>
            <a:r>
              <a:rPr lang="en" sz="2100"/>
              <a:t>: 20 exact duplicate rows → dropped</a:t>
            </a:r>
            <a:endParaRPr sz="2100"/>
          </a:p>
          <a:p>
            <a:pPr indent="-3619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❖"/>
            </a:pPr>
            <a:r>
              <a:rPr lang="en" sz="2100"/>
              <a:t> Verified Account &amp; Bank ID consistency</a:t>
            </a:r>
            <a:endParaRPr sz="2100"/>
          </a:p>
          <a:p>
            <a:pPr indent="-3619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❖"/>
            </a:pPr>
            <a:r>
              <a:rPr lang="en" sz="2100"/>
              <a:t> </a:t>
            </a:r>
            <a:r>
              <a:rPr b="1" lang="en" sz="2100"/>
              <a:t>Duplicates</a:t>
            </a:r>
            <a:r>
              <a:rPr lang="en" sz="2100"/>
              <a:t> not laundering signals → safe to remove</a:t>
            </a:r>
            <a:endParaRPr b="1" sz="2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79775" y="75475"/>
            <a:ext cx="8967300" cy="9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Calibri"/>
              <a:buNone/>
            </a:pPr>
            <a:r>
              <a:rPr b="1" lang="en" sz="4000"/>
              <a:t> </a:t>
            </a:r>
            <a:endParaRPr b="1" sz="4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Calibri"/>
              <a:buNone/>
            </a:pPr>
            <a:r>
              <a:rPr b="1" lang="en" sz="4000"/>
              <a:t>Research Questions Answered in EDA</a:t>
            </a:r>
            <a:endParaRPr sz="9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Calibri"/>
              <a:buNone/>
            </a:pPr>
            <a:r>
              <a:t/>
            </a:r>
            <a:endParaRPr b="1" sz="4000"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166025" y="1053425"/>
            <a:ext cx="4158000" cy="40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298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❖"/>
            </a:pPr>
            <a:r>
              <a:rPr b="1" lang="en" sz="1100"/>
              <a:t>Is the dataset complete and usable?</a:t>
            </a:r>
            <a:endParaRPr b="1"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Yes. No missing values in key fields, no negative or zero amounts. Dataset is consistent and schema-correct.</a:t>
            </a:r>
            <a:endParaRPr sz="1100"/>
          </a:p>
          <a:p>
            <a:pPr indent="-298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❖"/>
            </a:pPr>
            <a:r>
              <a:rPr b="1" lang="en" sz="1100"/>
              <a:t>Are there duplicate or invalid transactions? </a:t>
            </a:r>
            <a:endParaRPr b="1"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Found 20 exact duplicates (not laundering) → dropped safely. Accounts and banks are valid; self-transfers flagged for later analysis.</a:t>
            </a:r>
            <a:endParaRPr sz="1100"/>
          </a:p>
          <a:p>
            <a:pPr indent="-298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❖"/>
            </a:pPr>
            <a:r>
              <a:rPr b="1" lang="en" sz="1100"/>
              <a:t> What is the distribution of the target variable (Is Laundering)?</a:t>
            </a:r>
            <a:endParaRPr b="1"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Extremely imbalanced → only 0.11% laundering cases.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 Accuracy alone is our not a reliable metric, </a:t>
            </a:r>
            <a:r>
              <a:rPr b="1" lang="en" sz="1100"/>
              <a:t>Recall and Precise </a:t>
            </a:r>
            <a:r>
              <a:rPr lang="en" sz="1100"/>
              <a:t>our metrics to </a:t>
            </a:r>
            <a:r>
              <a:rPr lang="en" sz="1100"/>
              <a:t>focus on. </a:t>
            </a:r>
            <a:endParaRPr sz="1100"/>
          </a:p>
          <a:p>
            <a:pPr indent="-298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❖"/>
            </a:pPr>
            <a:r>
              <a:rPr b="1" lang="en" sz="1100"/>
              <a:t> How are transaction amounts distributed? </a:t>
            </a:r>
            <a:endParaRPr b="1"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Strong long-tail distribution.Most amounts are small; a few extreme outliers → log-transformation needed.</a:t>
            </a:r>
            <a:endParaRPr sz="1100"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4324025" y="936275"/>
            <a:ext cx="4406100" cy="35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-298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❖"/>
            </a:pPr>
            <a:r>
              <a:rPr b="1" lang="en" sz="1100"/>
              <a:t>Which payment formats are riskier? 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    	ACH has the highest laundering rate (0.79%).Bitcoin, Cash have moderate rates.Credit Card &amp; Cheque show very low laundering rates.</a:t>
            </a:r>
            <a:endParaRPr sz="1000">
              <a:solidFill>
                <a:schemeClr val="dk1"/>
              </a:solidFill>
            </a:endParaRPr>
          </a:p>
          <a:p>
            <a:pPr indent="-298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❖"/>
            </a:pPr>
            <a:r>
              <a:rPr b="1" lang="en" sz="1100"/>
              <a:t>Which currencies show higher laundering rates? 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   	 GBP, Ruble, Euro have the highest laundering percentages.USD also notable given large transaction volume.</a:t>
            </a:r>
            <a:endParaRPr sz="1000">
              <a:solidFill>
                <a:schemeClr val="dk1"/>
              </a:solidFill>
            </a:endParaRPr>
          </a:p>
          <a:p>
            <a:pPr indent="-298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❖"/>
            </a:pPr>
            <a:r>
              <a:rPr b="1" lang="en" sz="1100"/>
              <a:t>Do time patterns matter?</a:t>
            </a:r>
            <a:endParaRPr b="1" sz="1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Yes. Laundering attempts cluster in business hours (10AM–3PM). </a:t>
            </a:r>
            <a:r>
              <a:rPr b="1" lang="en" sz="1100"/>
              <a:t>Daily</a:t>
            </a:r>
            <a:r>
              <a:rPr lang="en" sz="1000">
                <a:solidFill>
                  <a:schemeClr val="dk1"/>
                </a:solidFill>
              </a:rPr>
              <a:t> laundering rate spikes after Sept 15 (likely data artifact → must be treated carefully).</a:t>
            </a:r>
            <a:endParaRPr sz="1000">
              <a:solidFill>
                <a:schemeClr val="dk1"/>
              </a:solidFill>
            </a:endParaRPr>
          </a:p>
          <a:p>
            <a:pPr indent="-298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❖"/>
            </a:pPr>
            <a:r>
              <a:rPr b="1" lang="en" sz="1100"/>
              <a:t> Are numeric features (amounts, bank IDs) directly correlated with laundering?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 No. Correlations with Is Laundering are near zero.Stronger predictors are categorical + temporal features.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457200" y="132167"/>
            <a:ext cx="82296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Calibri"/>
              <a:buNone/>
            </a:pPr>
            <a:r>
              <a:rPr b="1" lang="en" sz="4000"/>
              <a:t>EDA Highlights</a:t>
            </a:r>
            <a:endParaRPr b="1" sz="4000"/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0" y="774750"/>
            <a:ext cx="9144000" cy="35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❖"/>
            </a:pPr>
            <a:r>
              <a:rPr b="1" lang="en" sz="2100"/>
              <a:t>Target imbalance</a:t>
            </a:r>
            <a:r>
              <a:rPr lang="en" sz="2100"/>
              <a:t>:  </a:t>
            </a:r>
            <a:r>
              <a:rPr b="1" lang="en" sz="2100"/>
              <a:t>0.11%</a:t>
            </a:r>
            <a:r>
              <a:rPr lang="en" sz="2100"/>
              <a:t> laundering vs </a:t>
            </a:r>
            <a:r>
              <a:rPr b="1" lang="en" sz="2100"/>
              <a:t>99.89%</a:t>
            </a:r>
            <a:r>
              <a:rPr lang="en" sz="2100"/>
              <a:t> non-laundering</a:t>
            </a:r>
            <a:endParaRPr sz="2100"/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❖"/>
            </a:pPr>
            <a:r>
              <a:rPr b="1" lang="en" sz="2100"/>
              <a:t>Amounts</a:t>
            </a:r>
            <a:r>
              <a:rPr lang="en" sz="2100"/>
              <a:t>: long-tail → log-transform required</a:t>
            </a:r>
            <a:endParaRPr sz="2100"/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❖"/>
            </a:pPr>
            <a:r>
              <a:rPr b="1" lang="en" sz="2100"/>
              <a:t>Payment Format:</a:t>
            </a:r>
            <a:r>
              <a:rPr lang="en" sz="2100"/>
              <a:t> ACH has the highest laundering rate (</a:t>
            </a:r>
            <a:r>
              <a:rPr b="1" lang="en" sz="2100"/>
              <a:t>0.79%</a:t>
            </a:r>
            <a:r>
              <a:rPr lang="en" sz="2100"/>
              <a:t>)</a:t>
            </a:r>
            <a:endParaRPr sz="2100"/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❖"/>
            </a:pPr>
            <a:r>
              <a:rPr b="1" lang="en" sz="2100"/>
              <a:t>Currency</a:t>
            </a:r>
            <a:r>
              <a:rPr lang="en" sz="2100"/>
              <a:t>: GBP, Ruble, Euro show top laundering rates</a:t>
            </a:r>
            <a:endParaRPr sz="2100"/>
          </a:p>
        </p:txBody>
      </p:sp>
      <p:pic>
        <p:nvPicPr>
          <p:cNvPr id="101" name="Google Shape;101;p20" title="Screenshot 2025-09-15 at 9.47.5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500" y="2692425"/>
            <a:ext cx="3810700" cy="2375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7300" y="2692425"/>
            <a:ext cx="4474950" cy="237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457200" y="132167"/>
            <a:ext cx="82296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Calibri"/>
              <a:buNone/>
            </a:pPr>
            <a:r>
              <a:rPr b="1" lang="en" sz="4000"/>
              <a:t>EDA Highlights</a:t>
            </a:r>
            <a:endParaRPr b="1" sz="4000"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0" y="774750"/>
            <a:ext cx="9144000" cy="35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❖"/>
            </a:pPr>
            <a:r>
              <a:rPr b="1" lang="en" sz="2100"/>
              <a:t>Time patterns:</a:t>
            </a:r>
            <a:r>
              <a:rPr lang="en" sz="2100"/>
              <a:t> laundering peaks during 10AM- 3PM business hours and</a:t>
            </a:r>
            <a:r>
              <a:rPr lang="en" sz="2100"/>
              <a:t> Laundering rate (%) spikes after Sep 16,</a:t>
            </a:r>
            <a:endParaRPr sz="2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  <p:pic>
        <p:nvPicPr>
          <p:cNvPr id="109" name="Google Shape;10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075" y="1797150"/>
            <a:ext cx="4047225" cy="2897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94850" y="1908575"/>
            <a:ext cx="4047225" cy="267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334275" y="380200"/>
            <a:ext cx="83526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Calibri"/>
              <a:buNone/>
            </a:pPr>
            <a:r>
              <a:rPr b="1" lang="en" sz="4000"/>
              <a:t> Conclusion and </a:t>
            </a:r>
            <a:r>
              <a:rPr b="1" lang="en" sz="4000"/>
              <a:t>Preprocessing Plan</a:t>
            </a:r>
            <a:endParaRPr b="1" sz="4000"/>
          </a:p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457200" y="1333775"/>
            <a:ext cx="4017900" cy="35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Conclusion: </a:t>
            </a:r>
            <a:r>
              <a:rPr lang="en" sz="1400"/>
              <a:t>The insights from EDA</a:t>
            </a:r>
            <a:endParaRPr sz="21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❖"/>
            </a:pPr>
            <a:r>
              <a:rPr lang="en" sz="1400"/>
              <a:t>Dataset is: </a:t>
            </a:r>
            <a:r>
              <a:rPr b="1" lang="en" sz="1400"/>
              <a:t>clean, consistent, and schema-correct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❖"/>
            </a:pPr>
            <a:r>
              <a:rPr lang="en" sz="1400"/>
              <a:t>Strong predictors noted</a:t>
            </a:r>
            <a:r>
              <a:rPr b="1" lang="en" sz="1400"/>
              <a:t>:</a:t>
            </a:r>
            <a:r>
              <a:rPr lang="en" sz="1400"/>
              <a:t> </a:t>
            </a:r>
            <a:r>
              <a:rPr b="1" lang="en" sz="1400"/>
              <a:t>Payment Format, Currency, Time features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❖"/>
            </a:pPr>
            <a:r>
              <a:rPr lang="en" sz="1400"/>
              <a:t>Numeric features alone show </a:t>
            </a:r>
            <a:r>
              <a:rPr b="1" lang="en" sz="1400"/>
              <a:t>weak correlation with laundering</a:t>
            </a:r>
            <a:endParaRPr sz="1400"/>
          </a:p>
        </p:txBody>
      </p:sp>
      <p:sp>
        <p:nvSpPr>
          <p:cNvPr id="117" name="Google Shape;117;p22"/>
          <p:cNvSpPr txBox="1"/>
          <p:nvPr/>
        </p:nvSpPr>
        <p:spPr>
          <a:xfrm>
            <a:off x="4475100" y="1240350"/>
            <a:ext cx="4168500" cy="26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Preprocessing Plan</a:t>
            </a:r>
            <a:r>
              <a:rPr lang="en">
                <a:solidFill>
                  <a:schemeClr val="dk2"/>
                </a:solidFill>
              </a:rPr>
              <a:t>:We’ll prepare the dataset for modeling:</a:t>
            </a:r>
            <a:endParaRPr>
              <a:solidFill>
                <a:schemeClr val="dk2"/>
              </a:solidFill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❖"/>
            </a:pPr>
            <a:r>
              <a:rPr lang="en">
                <a:solidFill>
                  <a:schemeClr val="dk2"/>
                </a:solidFill>
              </a:rPr>
              <a:t>scale/log-transform amounts</a:t>
            </a:r>
            <a:endParaRPr>
              <a:solidFill>
                <a:schemeClr val="dk2"/>
              </a:solidFill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❖"/>
            </a:pPr>
            <a:r>
              <a:rPr lang="en">
                <a:solidFill>
                  <a:schemeClr val="dk2"/>
                </a:solidFill>
              </a:rPr>
              <a:t>encode categorical features (currencies, formats)</a:t>
            </a:r>
            <a:endParaRPr>
              <a:solidFill>
                <a:schemeClr val="dk2"/>
              </a:solidFill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❖"/>
            </a:pPr>
            <a:r>
              <a:rPr lang="en">
                <a:solidFill>
                  <a:schemeClr val="dk2"/>
                </a:solidFill>
              </a:rPr>
              <a:t>add temporal features </a:t>
            </a:r>
            <a:r>
              <a:rPr b="1" lang="en">
                <a:solidFill>
                  <a:schemeClr val="dk2"/>
                </a:solidFill>
              </a:rPr>
              <a:t>(hour, weekday, weekend flag)</a:t>
            </a:r>
            <a:endParaRPr b="1">
              <a:solidFill>
                <a:schemeClr val="dk2"/>
              </a:solidFill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❖"/>
            </a:pPr>
            <a:r>
              <a:rPr lang="en">
                <a:solidFill>
                  <a:schemeClr val="dk2"/>
                </a:solidFill>
              </a:rPr>
              <a:t>handle class imbalance (</a:t>
            </a:r>
            <a:r>
              <a:rPr b="1" lang="en">
                <a:solidFill>
                  <a:schemeClr val="dk2"/>
                </a:solidFill>
              </a:rPr>
              <a:t>Undersampling</a:t>
            </a:r>
            <a:r>
              <a:rPr lang="en">
                <a:solidFill>
                  <a:schemeClr val="dk2"/>
                </a:solidFill>
              </a:rPr>
              <a:t>).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515800" y="19305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Calibri"/>
              <a:buNone/>
            </a:pPr>
            <a:r>
              <a:rPr b="1" lang="en" sz="4000"/>
              <a:t>Thank you</a:t>
            </a:r>
            <a:endParaRPr b="1" sz="4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